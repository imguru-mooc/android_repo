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7416" autoAdjust="0"/>
  </p:normalViewPr>
  <p:slideViewPr>
    <p:cSldViewPr snapToGrid="0" snapToObjects="1">
      <p:cViewPr varScale="1">
        <p:scale>
          <a:sx n="202" d="100"/>
          <a:sy n="202" d="100"/>
        </p:scale>
        <p:origin x="592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85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Framework 16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심화 교육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 과정 (32시간)  |  시스템 개발자를 위한 고급 과정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228600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환경: Windows 11 + Android Studio Emulator (API 36)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IPC  |  Framework Core  |  System UI  |  APEX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실습 환경 구성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Ladybug+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RAM 16GB 권장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 / WHPX 활성화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SDK: Android 16 (API 36)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Emulator: x86_64 이미지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APIs 포함 이미지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&amp; Logcat 연동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AOSP 소스 (참조용)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android.googlesource.com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 브랜치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WSL2에서 repo sync 가능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리딩 중심 학습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디버깅 도구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shell / dumpsys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Profiler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Inspector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일정 개요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(8h)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0~3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 아키텍처 &amp; Binder IPC 기초/실습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(8h)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9659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4~6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심화 분석 &amp; 커스텀 System Service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(8h)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9260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7~10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Core &amp; Overlay &amp; Jetpack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(8h)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886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11~13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886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UI 커스터마이징 &amp; APEX 모듈 업데이트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16 아키텍처 &amp; Binder IPC 기초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  |  Chapter 0~3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시스템 아키텍처 개요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16(API 36) 계층 구조와 핵심 변경사항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시스템 아키텍처 계층도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7680960" cy="749808"/>
          </a:xfrm>
          <a:prstGeom prst="rect">
            <a:avLst/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 (System Apps / User Apps)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7680960" cy="749808"/>
          </a:xfrm>
          <a:prstGeom prst="rect">
            <a:avLst/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API Framework  (AMS, WMS, PMS, ...)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05456"/>
            <a:ext cx="7680960" cy="749808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505456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C/C++ Libraries  |  Android Runtime (ART)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392424"/>
            <a:ext cx="7680960" cy="749808"/>
          </a:xfrm>
          <a:prstGeom prst="rect">
            <a:avLst/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3392424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 Layer  (AIDL HAL)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79392"/>
            <a:ext cx="7680960" cy="749808"/>
          </a:xfrm>
          <a:prstGeom prst="rect">
            <a:avLst/>
          </a:prstGeom>
          <a:solidFill>
            <a:srgbClr val="0A3A7D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4279392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 (Binder, memfd, LMK, ...)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16 주요 변경사항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핵심 포인트 — 반드시 숙지하세요!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 HAL 기본 — HIDL deprecated (신규 HAL은 AIDL 필수)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Sandbox 강화 — SDK Runtime 정식 적용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Back 제스처 API 확장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Connect 플랫폼 통합 (Jetpack → Framework 승격)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16KB Page Size 지원 확대 — ARM 성능 최적화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부팅 시퀀스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45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0A3A7D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2816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초기화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6420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816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드라이버 로드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8152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645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46120" y="16459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816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init.rc 파싱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816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VM 초기화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1616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80760" y="1645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080760" y="16459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816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시작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3348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498080" y="1645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98080" y="16459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28163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화면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Zygote fork()로 앱 프로세스 생성 — COW(Copy-on-Write)로 메모리 효율적 공유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시스템 컴포넌트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Zygote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앱의 부모 프로세스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fork()로 빠른 생성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VM + 클래스 사전 로딩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64bit/32bit 듀얼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AMS, PMS, WMS 등 핵심 서비스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fork 프로세스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IPC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모듈화 확대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SurfaceFlinger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합성 엔진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HWC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VSync 기반 프레임 관리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기반 합성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ServiceManager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등록소 (handle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→ Binder 참조 매핑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 기반 (Android 11+)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서비스 통합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부팅 및 시스템 초기화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Zygote crash loop — 앱이 전혀 실행되지 않고 부팅 화면 반복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logcat -b main -s Zygote / dmesg 확인 → SELinux 정책 또는 preloaded-classes 충돌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System Server ANR — 부팅 후 30초 이상 응답 없음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dumpsys activity → watchdog trace 확인, /data/anr/traces.txt 분석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에뮬레이터 부팅 실패 — WHPX/Hyper-V 충돌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Windows 기능 → Hyper-V + WHPX 모두 활성화 확인, HAXM 제거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ART dex2oat 실패 — 앱 설치 시 INSTALL_FAILED_DEXOPT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dalvik.vm.dex2oat-Xms 값 조정, 캐시 초기화: adb shell pm compile --reset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0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16에서 HIDL 대신 AIDL HAL을 사용하는 이유를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Zygote의 fork() + COW가 메모리 효율에 미치는 영향을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Server 시작 후 Launcher까지의 과정을 설명하시오.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에뮬레이터 부팅 실패 시 디버깅 절차를 단계별로 설명하시오.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개념 및 IPC 이해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핵심 IPC 메커니즘 심층 분석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전통적 IPC vs Binder IPC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5F63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63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전통적 IPC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Pipe: 단방향, 부모-자식 한정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Socket: 범용적이나 2회 복사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Memory: 빠르지만 동기화 복잡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공통: 호출자 신원 검증 어려움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IPC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1회 복사 (mmap 활용)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UID/PID 보장 → 위변조 불가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RPC (메서드 호출)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카운팅 + DeathRecipient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아키텍처 개요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 (Proxy 호출)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200400" cy="640080"/>
          </a:xfrm>
          <a:prstGeom prst="rect">
            <a:avLst/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Proxy (BpBinder)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8595360" cy="1005840"/>
          </a:xfrm>
          <a:prstGeom prst="rect">
            <a:avLst/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788920"/>
            <a:ext cx="4572000" cy="640080"/>
          </a:xfrm>
          <a:prstGeom prst="rect">
            <a:avLst/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Driver (/dev/binder) — ioctl + mmap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645920"/>
            <a:ext cx="3200400" cy="640080"/>
          </a:xfrm>
          <a:prstGeom prst="rect">
            <a:avLst/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Stub (BnBinder)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822960"/>
            <a:ext cx="32004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A85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577840" y="822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(구현체)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1463040"/>
            <a:ext cx="0" cy="18288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965960" y="2286000"/>
            <a:ext cx="0" cy="32004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178040" y="1463040"/>
            <a:ext cx="0" cy="18288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178040" y="2286000"/>
            <a:ext cx="0" cy="32004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onTransact()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mmap으로 커널 버퍼와 서버 주소 공간을 동일 물리 페이지에 매핑 → 서버 측 zero-copy 수신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Transaction 흐름 (동기 호출)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transact()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직렬화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2996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9456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ioctl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(WRITE_READ)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진입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7588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큐잉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스레드 선택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2180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onTransact()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+ reply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6772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3232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수신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역직렬화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FLAG_ONEWAY: 비동기 호출 — Client 즉시 반환 (콜백 패턴 필요)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ServiceManager 상세 동작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 — 특수 handle 0에 등록된 글로벌 서비스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addService(name, IBinder): 시스템 서비스 등록 (시스템 권한 필요)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getService(name): Binder Proxy 반환 (서비스 미등록 시 블로킹)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checkService(name): 논블로킹 버전 — null 반환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16: AIDL ServiceManager + VINTF 서비스 통합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waitForService() 사용 시 timeout 설정 필수 — 무한 대기 위험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Binder IPC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TransactionTooLargeException — Binder 트랜잭션 1MB 초과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큰 데이터는 ContentProvider/File로 전달, Bitmap은 ashmem(memfd) 사용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DeadObjectException — 서비스 프로세스 죽음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linkToDeath()로 사전 등록, try-catch에서 재연결 로직 구현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SecurityException: Not allowed to bind — SELinux 거부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logcat | grep avc:denied 로 정책 확인 → sepolicy에 binder_call 규칙 추가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서비스 getService() 무한 블로킹 — 부팅 순서 문제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checkService() + 폴링 또는 waitForService(timeout) 사용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Binder 상태 확인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시스템 서비스 목록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service list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Binder 상태 (에뮬레이터 root)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root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/sys/kernel/debug/binder/state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/sys/kernel/debug/binder/stats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/sys/kernel/debug/binder/failed_transaction_log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특정 프로세스 Binder 정보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/sys/kernel/debug/binder/proc/&lt;pid&gt;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Perfetto로 Binder 트랜잭션 프로파일링 (Android 16)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perfetto --config :test --out /data/misc/perfetto-traces/trace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Windows에서 에뮬레이터 사용 시 adb root가 Google APIs 이미지에서 기본 지원됨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TransactionTooLargeException의 발생 원인과 해결 방법을 3가지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mmap을 통한 1회 복사 원리를 물리 페이지 관점에서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FLAG_ONEWAY 사용 시 주의사항과 콜백 패턴을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실습 (AIDL 기반 IPC)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Studio에서 AIDL 서비스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AIDL 컴파일 과정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.aidl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작성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1828800"/>
            <a:ext cx="54864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54864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212080" y="91440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21208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(서버 추상 클래스)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1208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(클라이언트 대리)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280160"/>
            <a:ext cx="36576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406640" y="9144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0664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92024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0664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59436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2278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AIDL 파일 하나로 Stub + Proxy 자동 생성 → 개발자는 Stub 구현과 Client 호출만 작성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AIDL 인터페이스 정의 (핵심부)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AIDL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3108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ICalculatorService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add(int a, int b);          // 동기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oneway void calcAsync(          // 비동기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a, int b, ICalcCallback cb);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커스텀 Parcelable 사용 시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parcelable CalcResult;  // 별도 .aidl 선언 필수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in(기본)/out/inout: 파라미터 방향 → out은 빈 Parcel 전송 후 결과만 받음 (성능 차이 큼)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서비스 구현 — 핵심 보안 패턴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3108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ICalculatorService.Stub mBinder =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ICalculatorService.Stub()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public int add(int a, int b)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★ 호출자 확인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uid = Binder.getCallingUid();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★ 시스템 권한으로 작업 시 필수!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token = Binder.clearCallingIdentity();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 return a + b; }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finally { Binder.restoreCallingIdentity(token);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clearCallingIdentity(): 시스템 서비스가 자신의 UID로 다른 서비스 호출 시 반드시 사용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클라이언트 연결 — 핵심 패턴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3108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IBinder → Proxy 변환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mService = ICalculatorService.Stub.asInterface(service);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같은 프로세스: Stub 직접 반환 (IPC 없음)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다른 프로세스: Proxy 객체 생성 (IPC 발생)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 int r = mService.add(10, 20); }  // Binder IPC!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(RemoteException e) { /* 서비스 죽음 */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서비스 사망 감지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service.linkToDeath(() -&gt; mService = null, 0);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linkToDeath 콜백은 Binder Thread에서 호출됨 — UI 작업 시 Handler 전환 필요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AIDL 개발 흔한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AIDL 파일이 빌드에 포함되지 않음 — 인터페이스 클래스 생성 안됨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src/main/aidl/ 디렉토리에 패키지 구조와 함께 배치, build.gradle에 aidl sourceSet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ClassCastException: Stub.asInterface() 반환 타입 불일치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서버/클라이언트 양쪽 AIDL 파일의 패키지명과 메서드 시그니처가 완전 동일해야 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RemoteException: oneway 메서드에서 예외 전달 안됨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oneway는 비동기 → 서버 예외가 클라이언트에 전달 불가, 콜백 인터페이스로 에러 전달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Parcelable 직렬화 순서 불일치 — 데이터 깨짐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writeToParcel()과 createFromParcel()의 read/write 순서가 정확히 일치해야 함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실습: AIDL Calculator 서비스 (Android Studio)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Empty Activity (API 36 에뮬레이터 타겟)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src/main/aidl/ 에 ICalculatorService.aidl 작성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CalculatorService: Stub 구현 + clearCallingIdentity 패턴 적용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AndroidManifest.xml: &lt;service exported="true"&gt; 등록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ClientActivity: bindService() → asInterface() → 메서드 호출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linkToDeath() 등록 → 서비스 프로세스 kill 테스트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shell dumpsys activity services | grep Calculator 확인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2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Stub.asInterface()의 내부 동작을 같은/다른 프로세스 경우로 나누어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 Parcelable 직렬화 순서 불일치 시 발생하는 문제와 디버깅 방법을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clearCallingIdentity()가 필요한 구체적 시나리오를 3가지 제시하시오.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간단한 IPC 서비스 개발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Messenger, Content Provider, Bound Service 패턴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Messenger vs AIDL 비교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Messenger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기반 단방향 메시지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스레드 → 자동 스레드 안전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간편 (AIDL 불필요)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Bundle 전달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명령 전달에 적합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메서드 호출 (RPC)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Binder Thread Pool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강타입 인터페이스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Parcelable 커스텀 타입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API에 적합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Provider — Binder 기반 데이터 공유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기반 접근: content://authority/path/id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query(), insert(), update(), delete()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내부적으로 Binder IPC 사용 — call()도 Binder Transaction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CursorWindow: 공유 메모리를 통한 대량 데이터 전달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FileProvider: 파일 공유 표준 (Android 7.0+, FileUriExposedException 방지)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CursorWindow 1MB 제한 — 대량 쿼리 시 페이징 필수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IPC 서비스 개발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android.os.FileUriExposedException — file:// URI 직접 전달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FileProvider로 content:// URI 생성, grantUriPermission() 호출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ContentProvider query() 에서 ANR — 메인 스레드 블로킹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CursorLoader 또는 ContentResolver.query()를 IO 스레드에서 호출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Messenger 응답 수신 불가 — replyTo 미설정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Message.replyTo에 클라이언트 Messenger 설정 후 send()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Process 분리 시 Application.onCreate() 중복 실행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프로세스 이름 체크: getProcessName()으로 분기 처리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3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Provider가 Binder를 사용하는 방식과 CursorWindow의 역할을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android:process 분리 시 주의사항 3가지를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FileUriExposedException의 발생 원인과 해결 방법을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심화 분석 &amp; 커스텀 System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  |  Chapter 4~6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심화 분석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레벨 Binder Driver 내부 동작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mmap 메모리 매핑 (Zero-Copy)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 Space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640080"/>
          </a:xfrm>
          <a:prstGeom prst="rect">
            <a:avLst/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copy_from_user()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복사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371600"/>
            <a:ext cx="0" cy="18288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2194560"/>
            <a:ext cx="0" cy="36576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82880" y="2560320"/>
            <a:ext cx="8778240" cy="1097280"/>
          </a:xfrm>
          <a:prstGeom prst="rect">
            <a:avLst/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834640"/>
            <a:ext cx="4572000" cy="640080"/>
          </a:xfrm>
          <a:prstGeom prst="rect">
            <a:avLst/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Buffer (물리 페이지)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743200" cy="640080"/>
          </a:xfrm>
          <a:prstGeom prst="rect">
            <a:avLst/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매핑 영역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731520"/>
            <a:ext cx="2743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A85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731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User 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 복사!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371600"/>
            <a:ext cx="0" cy="18288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0" y="2194560"/>
            <a:ext cx="0" cy="640080"/>
          </a:xfrm>
          <a:prstGeom prst="line">
            <a:avLst/>
          </a:prstGeom>
          <a:noFill/>
          <a:ln w="254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Kernel Buffer와 Server mmap 영역이 동일 물리 페이지 → 서버는 추가 복사 없이 읽기 가능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Thread Pool 상세 동작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프로세스당 기본 최대 15+1 Binder Thread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Binder Thread: looper — 자동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BR_SPAWN_LOOPER: 추가 스레드 동적 생성 트리거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스레드 busy → 트랜잭션 대기열 큐잉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데드락: A→B→A 순환 동기 호출 시 스레드 고갈!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완화: oneway 사용 / 최대 스레드 수 증가 / 호출 방향 단일화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상속: 호출자의 스케줄링 우선순위를 서버에 전파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트랜잭션 내부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binder_transaction: 송신자, 수신자, 데이터 버퍼, 오프셋 배열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Binder Object: Parcel 내 IBinder를 커널이 handle ↔ node 변환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Scatter-Gather: 대용량 전송 시 효율적 버퍼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BR_TRANSACTION_COMPLETE: 전송 완료 알림 (oneway는 여기서 반환)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BC_REPLY: 서버가 결과 반환 시 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BR_DEAD_BINDER: 서버 프로세스 사망 → DeathRecipient 호출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binder_transaction 버퍼 최대 크기: ~1MB — 초과 시 TransactionTooLargeException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Binder 심화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Binder Thread 고갈 — 앱/시스템 서비스 응답 없음 (ANR)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binder/state에서 thread 수 확인, oneway 전환 또는 BINDER_SET_MAX_THREADS 증가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FAILED BINDER TRANSACTION — /dev/binder 버퍼 부족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failed_transaction_log 확인, 대용량 데이터는 ashmem/FD 전달로 변경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Priority Inversion — 낮은 우선순위 스레드가 Binder 잠금 보유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Android 16에서 우선순위 상속 활용, real-time 스레드 사용 시 주의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Binder 성능 프로파일링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Binder 트랜잭션 시간 측정 (Perfetto)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perfetto -c - --txt &lt;&lt;EOF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buffers: { size_kb: 32768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data_sources: { config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"linux.ftrace"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ftrace_config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ftrace_events: "binder/binder_transaction"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ftrace_events: "binder/binder_transaction_received"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systrace로 Binder 분석 (레거시)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systrace.py -t 5 binder_driver -o trace.html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특정 프로세스 Binder 통계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/sys/kernel/debug/binder/proc/$(pidof system_server)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Binder 호출 횟수 확인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binder_calls_stats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Perfetto: Android 16 기본 트레이싱 도구 — systrace보다 상세한 분석 가능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4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mmap zero-copy 원리를 물리 페이지 관점에서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Thread Pool 데드락 시나리오와 해결 방법을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Perfetto로 Binder 성능 이슈를 분석하는 절차를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Binder vs Java Binder, 보안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Binder 관계 및 Binder 보안 메커니즘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→ Native Binder 호출 스택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7680960" cy="621792"/>
          </a:xfrm>
          <a:prstGeom prst="rect">
            <a:avLst/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mService.add(1, 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53312"/>
            <a:ext cx="7680960" cy="621792"/>
          </a:xfrm>
          <a:prstGeom prst="rect">
            <a:avLst/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ICalcService.Stub.Proxy.add() → Parcel 직렬화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66544"/>
            <a:ext cx="7680960" cy="621792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06654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android.os.BinderProxy.transact() [Java Framework]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79776"/>
            <a:ext cx="7680960" cy="621792"/>
          </a:xfrm>
          <a:prstGeom prst="rect">
            <a:avLst/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77977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JNI: android_os_BinderProxy_transact() [Native Bridge]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93008"/>
            <a:ext cx="7680960" cy="621792"/>
          </a:xfrm>
          <a:prstGeom prst="rect">
            <a:avLst/>
          </a:prstGeom>
          <a:solidFill>
            <a:srgbClr val="0A3A7D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BpBinder::transact() → IPCThreadState [libbinder]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7680960" cy="621792"/>
          </a:xfrm>
          <a:prstGeom prst="rect">
            <a:avLst/>
          </a:prstGeom>
          <a:solidFill>
            <a:srgbClr val="26323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ioctl(BINDER_WRITE_READ) → Binder Driver [Kernel]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Binder 보안 모델 — Android 16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핵심 포인트 — 반드시 숙지하세요!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UID/PID 주입: 위변조 불가능한 호출자 신원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binder_call: 도메인 간 Binder 호출 허용 정책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enforceCallingPermission(): 매니페스트 권한 검증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Permission: 같은 서명 앱만 접근 (시스템 API 보호)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AppOps: 런타임 권한 동적 제어 + 접근 로깅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Binder 보안 관련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SecurityException: binder_call denied — SELinux 거부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adb logcat | grep avc:denied → audit2allow로 규칙 생성 → neverallow 충돌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Permission Denial: 호출자 UID가 권한 없음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enforceCallingOrSelfPermission() 사용, AndroidManifest에 permission 선언 확인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Native Binder에서 checkPermission 누락 — 보안 취약점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IPCThreadState::self()-&gt;getCallingUid()로 반드시 호출자 확인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clearCallingIdentity 미호출 — 잘못된 권한으로 시스템 API 호출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시스템 서비스에서 다른 서비스 호출 시 반드시 clear/restore 패턴 적용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5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BinderProxy.transact()에서 커널까지 전체 경로를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binder_call 거부 시 디버깅 절차를 단계별로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Binder와 Java Binder의 성능 차이와 선택 기준을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커스텀 System Service 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AOSP에 시스템 서비스를 추가하는 전체 과정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Service 추가 전체 흐름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.aidl 파일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2996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9456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(Stub 상속)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클래스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7588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SystemServer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등록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addService()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2180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작성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접근 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6772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D9302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3232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추가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필수!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Android 16: SystemServiceRegistry에 Manager 등록 → Context.getSystemService()로 접근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Service 핵심 코드 (요약)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3108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1️⃣ AIDL 정의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IMyService { String getInfo();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2️⃣ 서비스 구현 (★ 보안 패턴)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MyService extends IMyService.Stub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getInfo()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mContext.enforceCallingPermission(PERM, TAG);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token = Binder.clearCallingIdentity();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 return Build.MODEL;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finally { Binder.restoreCallingIdentity(token);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3️⃣ SystemServer 등록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ServiceManager.addService("my_svc", new MyService(ctx));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4️⃣ SELinux: service_contexts + sepolicy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변경 파일: .aidl, Service.java, SystemServer.java, Manager.java, Registry, SELinux (6개+)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Service 스레드 안전성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SystemServer 내 서비스는 멀티 Binder Thread에서 동시 호출됨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블록 또는 ReentrantLock으로 공유 상태 보호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Handler를 통한 메인 스레드 직렬화 패턴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ContentObserver: 설정 변경 감지 시 Handler 스레드에서 처리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Binder Thread에서 긴 작업 → 전체 시스템 ANR 위험!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작업을 별도 HandlerThread로 위임, 결과를 콜백으로 전달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System Service 개발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ServiceManager.addService() 시 SELinux 거부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system/sepolicy/private/service_contexts에 서비스 등록, .te 파일에 add 규칙 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빌드 시 AIDL 'unknown type' 에러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Android.bp의 filegroup에 .aidl 파일 추가, 패키지 경로 정확히 일치 확인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System Service에서 Watchdog ANR (60초 초과)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서비스 초기화 로직 최적화, 무거운 작업은 별도 스레드, Watchdog monitor 등록 검토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Manager 클래스에서 getSystemService() 반환 null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SystemServiceRegistry에 REGISTER 코드 추가, Context.SYSTEM_SERVICE_NAMES에 등록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실습: 커스텀 System Service 추가 (AOSP)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IMyCustomService.aidl 작성 및 Android.bp 등록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MyCustomService 구현 (권한 체크 + synchronized)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SystemServer.java에 addService() 추가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MyCustomManager + SystemServiceRegistry 등록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SELinux: service_contexts + .te 파일 작성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→ 에뮬레이터 flash → adb shell service call 테스트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dumpsys my_custom으로 서비스 상태 확인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6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Service 추가 시 변경해야 하는 모든 파일을 나열하시오.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Thread에서 긴 작업 수행 시 발생하는 문제와 해결 패턴을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ANR이 발생하는 원인과 디버깅 방법을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Core &amp; Overlay &amp; Jetpack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  |  Chapter 7~10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Android Framework Core 분석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AMS, PMS, WMS 핵심 서비스 내부 동작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startActivity() 전체 흐름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7315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startActivity()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11680" y="1143000"/>
            <a:ext cx="36576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194560" y="7315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194560" y="731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Instrument.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execStart()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23360" y="1143000"/>
            <a:ext cx="36576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206240" y="7315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0" y="731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startActivity()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36576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731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startInner()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0" y="1554480"/>
            <a:ext cx="0" cy="36576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RootWindow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resumeTop()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359152"/>
            <a:ext cx="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06240" y="1920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06240" y="1920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TaskSupervisor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startProcess()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2359152"/>
            <a:ext cx="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194560" y="1920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194560" y="1920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2359152"/>
            <a:ext cx="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82880" y="1920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82880" y="1920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ActivityThread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108960"/>
            <a:ext cx="1828800" cy="640080"/>
          </a:xfrm>
          <a:prstGeom prst="roundRect">
            <a:avLst>
              <a:gd name="adj" fmla="val 17143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8288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onCreate()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onResume()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7280" y="2788920"/>
            <a:ext cx="0" cy="32004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새 프로세스 필요 시: ATMS → AMS → ZygoteProcess.start() → fork() → ActivityThread.main()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System Service 역할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생명주기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OomAdjuster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분배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감지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Activity/Task 관리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Multi-Window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설치/관리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Resolution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관리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Install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윈도우 레이아웃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분배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SurfaceFlinger 협력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Transitions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OomAdjuster — 프로세스 우선순위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FOREGROUND_APP (0): 현재 사용 → 절대 종료 안 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VISIBLE_APP (100): 보이지만 포커스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(500): 서비스 실행 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(900+): 백그라운드 → 메모리 부족 시 우선 종료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16: 프로세스 고정(pinning) API + Cached 앱 프리징 확대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OomAdjuster가 계산 실패 → LMK가 중요 프로세스 종료 가능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Framework Core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ANR (Application Not Responding) — 5초 이내 Input 미처리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/data/anr/traces.txt 분석, adb bugreport → Binder 대기 스레드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Activity 시작 실패 — 'Unable to find explicit activity class'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AndroidManifest.xml에 Activity 선언 확인, exported/intent-filter 검토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Process killed unexpectedly — OOM Killer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dumpsys meminfo로 메모리 상태 확인, oom_adj 값 분석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Intent Resolution 실패 — 암시적 Intent에 대한 컴포넌트 없음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adb shell pm query-activities --brief &lt;intent&gt; 로 매칭 확인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Framework Core 디버깅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ANR traces 분석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pull /data/anr/traces.txt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bugreport &gt; bugreport.zip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프로세스 OOM adj 확인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activity processes | grep -A 5 "oom adj"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/proc/&lt;pid&gt;/oom_score_adj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Activity 스택 확인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activity activities | grep -E "Task|Act"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Intent Resolution 디버깅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pm query-activities -a android.intent.action.VIEW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package resolvers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WMS 윈도우 상태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window windows | grep -E "Window|mFocus"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bugreport: 가장 포괄적인 디버깅 도구 — ANR, crash, 시스템 상태를 한 파일로 수집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7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startActivity() 전체 호출 체인에서 프로세스 생성이 관여하는 시점을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발생 시 traces.txt에서 확인해야 할 핵심 정보 3가지를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OomAdjuster의 프로세스 우선순위 계산 기준을 5가지 이상 나열하시오.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RRO (Runtime Resource Overlays)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 리소스 교체 메커니즘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RRO 동작 원리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200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앱 (Settings)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primary_color = #000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accent_color = #F00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3200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4A85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오버레이 APK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primary_color = #1A73E8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accent_color = #34A853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828800"/>
            <a:ext cx="73152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566160" y="3200400"/>
            <a:ext cx="73152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2011680" cy="1828800"/>
          </a:xfrm>
          <a:prstGeom prst="rect">
            <a:avLst/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97680" y="16459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73152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1828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16459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#1A73E8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#34A853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RRO 오버레이 핵심 구조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XML/Shell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3108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&lt;overlay android:targetPackage="com.android.settings"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android:isStatic="false" android:priority="1" /&gt;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&lt;application android:hasCode="false" /&gt;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교체할 리소스 --&gt;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 name="primary_color"&gt;#1A73E8&lt;/color&gt;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관리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overlay list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overlay enable &lt;pkg&gt;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overlay disable &lt;pkg&gt;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Fabricated Overlays (12+): 코드에서 동적 오버레이 생성 — OverlayManager.commit()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RRO 오버레이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오버레이 적용 안됨 — 설치는 되지만 리소스 변경 없음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targetPackage/targetName 정확히 일치 확인, cmd overlay enable 후 앱 재시작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오버레이 충돌 — 여러 오버레이 간 우선순위 문제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cmd overlay set-priority로 순서 조정, dumpsys overlay로 상태 확인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부팅 시 RRO 로드 실패 — 서명 불일치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시스템 오버레이는 platform 키로 서명 필요, AOSP 빌드 시 LOCAL_CERTIFICATE 설정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8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RRO의 동작 원리와 리소스 교체 메커니즘을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RRO와 동적 RRO의 차이를 설명하시오.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 (Static Resource Overlays)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타임 정적 리소스 오버레이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 vs RRO 비교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5F636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63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SRO (Static)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시 리소스 병합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APK 없음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 변경 불가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PRODUCT_PACKAGE_OVERLAYS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디바이스 커스터마이징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RRO (Runtime)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 리소스 교체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오버레이 APK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활성화/비활성화 가능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OverlayManagerService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테마, Material You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SRO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SRO 적용 안됨 — 빌드 후 리소스 변경 없음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overlay 디렉토리 경로/패키지 구조 정확히 확인, aapt2 dump resources로 병합 검증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SRO + RRO 우선순위 혼동 — 예상과 다른 리소스 적용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RRO가 SRO보다 우선 — 런타임 오버레이가 빌드 타임 오버레이를 덮어씀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PRODUCT vs DEVICE OVERLAYS 충돌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 &gt; DEVICE 우선순위, 동일 리소스를 양쪽에 정의하지 않도록 관리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9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PRODUCT_PACKAGE_OVERLAYS와 DEVICE_PACKAGE_OVERLAYS 우선순위를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SRO+RRO 동시 사용 시 최종 적용 우선순위를 설명하시오.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Jetpack 라이브러리 개요 및 활용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개발자 관점 Jetpack과 Framework 연동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Jetpack 핵심 컴포넌트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생명주기 인식 컴포넌트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LifecycleOwner/Observer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상태 연동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ViewModel +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데이터 보존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 반응형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StateFlow 전환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WorkManager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백그라운드 작업 스케줄링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JobScheduler + AlarmMgr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기반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선언적 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Canvas/RenderNode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SystemUI 도입 (13+)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Jetpack과 Framework 관계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0" y="6400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0" y="640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(개발자 코드)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0" cy="27432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(androidx.*)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417320" cy="411480"/>
          </a:xfrm>
          <a:prstGeom prst="roundRect">
            <a:avLst>
              <a:gd name="adj" fmla="val 26667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920240"/>
            <a:ext cx="1417320" cy="411480"/>
          </a:xfrm>
          <a:prstGeom prst="roundRect">
            <a:avLst>
              <a:gd name="adj" fmla="val 26667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24028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WorkMgr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920240"/>
            <a:ext cx="1417320" cy="411480"/>
          </a:xfrm>
          <a:prstGeom prst="roundRect">
            <a:avLst>
              <a:gd name="adj" fmla="val 26667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920240"/>
            <a:ext cx="1417320" cy="411480"/>
          </a:xfrm>
          <a:prstGeom prst="roundRect">
            <a:avLst>
              <a:gd name="adj" fmla="val 26667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4068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40880" y="1920240"/>
            <a:ext cx="1417320" cy="411480"/>
          </a:xfrm>
          <a:prstGeom prst="roundRect">
            <a:avLst>
              <a:gd name="adj" fmla="val 26667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0" cy="27432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A8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(android.*)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10896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40280" y="310896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24028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JobScheduler/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0" y="310896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84048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40680" y="310896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4068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40880" y="310896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04088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FragMgr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959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Jetpack은 Framework 위의 추상화 — 하위 호환 + 최신 패턴 제공, 내부적으로 Framework 호출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Jetpack 연동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WorkManager 작업이 실행되지 않음 — Constraint 미충족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dumpsys jobscheduler로 예약 상태 확인, 에뮬레이터에서 충전/Wi-Fi 시뮬레이션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Compose Recomposition 무한 루프 — UI 프리징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Layout Inspector에서 recomposition count 확인, remember/derivedStateOf 적용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Room DB 마이그레이션 실패 — IllegalStateException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Migration 객체에 모든 ALTER TABLE 구문 정의, fallbackToDestructiveMigration() 테스트용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Lifecycle Observer 메모리 누수 — Activity 회전 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LifecycleOwner에 바인딩, viewLifecycleOwner 사용 (Fragment에서)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10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Recomposition과 Framework 렌더링 연동을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WorkManager가 내부적으로 사용하는 Framework API를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SystemUI에서 Compose 도입의 이점과 과제를 논하시오.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UI &amp; APEX 모듈 업데이트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  |  Chapter 11~13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WindowManager 및 System UI 구조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WMS와 SystemUI 내부 아키텍처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 계층 구조 (Android 16)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0" y="64008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0" y="640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RootWindowContainer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1143000"/>
            <a:ext cx="0" cy="22860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874520"/>
            <a:ext cx="0" cy="22860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0" cy="22860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98080" y="1874520"/>
            <a:ext cx="0" cy="22860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645920" y="1874520"/>
            <a:ext cx="5852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TaskDisplayArea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10312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StatusBar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Window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606040"/>
            <a:ext cx="0" cy="22860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291840"/>
            <a:ext cx="0" cy="18288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82880" y="347472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90CAF9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82880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ActivityRecord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3931920"/>
            <a:ext cx="0" cy="18288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82880" y="4114800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8288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3200400"/>
            <a:ext cx="5029200" cy="128016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840480" y="32461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 주요 변경: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InsetsState: 시스템 바 영역 모델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Shell Transitions: 윈도우 전환 개편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Back: 제스처 뒤로 가기 통합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SystemUI 핵심 컴포넌트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Bar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시계, 배터리, 신호세기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아이콘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IconController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Settings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QSTileHost 관리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QSTile 상태/UI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TileService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config_quickSettingsTiles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StackScrollLayout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ExpandableRow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 Display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알고리즘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Keyguard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KeyguardViewMediator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Bouncer (PIN/패턴)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BiometricUnlock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WindowManager &amp; SystemUI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윈도우 누수 (Window Leak) — Activity 종료 후 Dialog 잔존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onDestroy()에서 dialog.dismiss() 호출, isFinishing() 체크 후 show()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SystemUI crash loop — 상태바/네비바 사라짐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logcat -s SystemUI로 crash trace 확인, RRO 충돌 여부 cmd overlay list 체크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Input Dispatching 지연 — 터치 5초+ ANR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dumpsys input → pending events 확인, WMS focus window 상태 분석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Insets 계산 오류 — 앱 UI가 상태바/네비바와 겹침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WindowInsetsCompat API 사용, setDecorFitsSystemWindows(false) 확인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WMS &amp; SystemUI 디버깅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윈도우 목록 및 포커스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window windows | head -50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window | grep mCurrentFocus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SystemUI 상태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statusbar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notification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 상태 (터치/키 이벤트)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input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SystemUI 강제 재시작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am crash com.android.systemui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Layout Inspector (Android Studio)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에뮬레이터에서 실시간 UI 계층 분석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Window Leak 디버깅: StrictMode + detectLeakedClosableObjects() 활성화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11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계층의 DisplayContent → Task → ActivityRecord → WindowState 관계를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윈도우 누수(Window Leak)의 원인과 디버깅 절차를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InsetsState 모델의 동작 원리를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UI 커스터마이징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타일, 상태바, 잠금화면 수정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QS 타일 생명주기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QSTileHost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타일 생성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1527048"/>
            <a:ext cx="18288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57400" y="10972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57400" y="1097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handleInit()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상태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1527048"/>
            <a:ext cx="18288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40480" y="10972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0480" y="1097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handleClick()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40680" y="1527048"/>
            <a:ext cx="18288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623560" y="10972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23560" y="1097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handleUpdate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1527048"/>
            <a:ext cx="182880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406640" y="10972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5F636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06640" y="10972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handleDestroy()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리소스 해제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920240"/>
            <a:ext cx="0" cy="457200"/>
          </a:xfrm>
          <a:prstGeom prst="line">
            <a:avLst/>
          </a:prstGeom>
          <a:noFill/>
          <a:ln w="19050">
            <a:solidFill>
              <a:srgbClr val="EA8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840480" y="2377440"/>
            <a:ext cx="3429000" cy="0"/>
          </a:xfrm>
          <a:prstGeom prst="line">
            <a:avLst/>
          </a:prstGeom>
          <a:noFill/>
          <a:ln w="19050">
            <a:solidFill>
              <a:srgbClr val="EA8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(상태 변경)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320040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5F636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560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STATE_INACTIVE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D9302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STATE_UNAVAILABLE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커스텀 QS 타일 핵심 메서드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10896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31089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handleClick(View view)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newState = !mState.value;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Settings.System.putInt(mContext.getContentResolver(),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"custom_feature", newState ? 1 : 0);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refreshState();  // ★ handleUpdateState 트리거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handleUpdateState(BooleanState state, Object arg)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state.value = Settings.System.getInt(...) == 1;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state.label = "Custom";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state.state = state.value 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Tile.STATE_ACTIVE : Tile.STATE_INACTIVE;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QSFactoryImpl에 타일 키 등록 + config_quickSettingsTiles에 추가 필요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SystemUI 수정 방식 비교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소스 수정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 소스 직접 수정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QS/StatusBar/Keyguard 커스텀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무제한 자유도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빌드/유지보수 비용 높음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RRO 오버레이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오버레이로 리소스만 교체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색상/아이콘/문자열 변경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수정 없이 적용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레이아웃/로직 변경 불가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SystemUI 커스터마이징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QS 타일 아이콘 표시 안됨 — null icon state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handleUpdateState()에서 state.icon을 반드시 설정, ResourceIcon.get() 반환값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SystemUI 빌드 후 교체 시 부팅 루프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서명 불일치 — platform 키로 서명, adb sideload 대신 AOSP 빌드 통합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RRO로 SystemUI 색상 변경 후 다크모드에서 깨짐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night/colors.xml도 함께 오버레이, DayNight 테마 리소스 세트 완성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Keyguard 커스텀 후 생체인증 작동 안됨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BiometricUnlockController 연동 확인, KeyguardUpdateMonitor 이벤트 체인 검증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실습: SystemUI 커스터마이징 실습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shell dumpsys statusbar로 현재 상태 확인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RRO로 SystemUI 색상 변경 (오버레이 APK → 설치 → 활성화)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 SystemUI 빌드: 커스텀 QS 타일 추가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상태바에 커스텀 아이콘 (배터리 온도) 추가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Perfetto로 SystemUI 렌더링 성능 프로파일링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12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QSTileImpl 상태 관리와 refreshState() 동작을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다크모드 대응 시 필요한 리소스 파일을 모두 나열하시오.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SystemUI 부팅 루프 발생 시 복구 절차를 설명하시오.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8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및 모듈 업데이트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Mainline과 APEX 기반 시스템 모듈화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645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패키지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14400" y="640080"/>
            <a:ext cx="7315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97280" y="685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File (.apex)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188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apex_manifest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2044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1887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852160" y="1188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apex_pubkey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(공개 키)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2103120"/>
            <a:ext cx="6766560" cy="21031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apex_payload.img (ext4)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5603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42A5F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(.so)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25603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1E88E5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10896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(.jar)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2560320"/>
            <a:ext cx="1188720" cy="640080"/>
          </a:xfrm>
          <a:prstGeom prst="roundRect">
            <a:avLst>
              <a:gd name="adj" fmla="val 17143"/>
            </a:avLst>
          </a:prstGeom>
          <a:solidFill>
            <a:srgbClr val="0D47A1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dm-verity 무결성 보장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설치 및 활성화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(Play Store)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스타일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2996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EA860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9456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검증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(apexd)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7588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재부팅 대기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2180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34A853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(/apex/)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 마운트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67728" y="2194560"/>
            <a:ext cx="146304" cy="0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/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32320" y="16459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816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사용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실패 시 자동 롤백 — Pre-installed: /system/apex/ | Updated: /data/apex/active/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Mainline — Android 16 모듈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FCE4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핵심 포인트 — 반드시 숙지하세요!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Runtime: APEX 독립 업데이트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DNS Resolver, Captive Portal — 보안 패치 즉시 적용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Components: Codec/Extractor — 취약점 빠른 대응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Conscrypt (TLS/SSL): 암호화 라이브러리 독립 업데이트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커널 모듈은 APEX 불가 (GKI 별도 관리)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30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현업 트러블슈팅: APEX 오류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APEX 설치 실패 — 서명 검증 에러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apex_pubkey와 signing certificate 일치 확인, 테스트 키로 서명 시 에뮬레이터만 가능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APEX 활성화 후 부팅 실패 — 롤백 발생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adb logcat -s apexd로 실패 원인 확인, /data/apex/active/에서 문제 APEX 수동 제거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APEX 모듈 간 의존성 충돌 — 라이브러리 버전 불일치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apex_manifest.json의 requireNativeLibs 확인, 공유 라이브러리 버전 호환성 검증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8412480" cy="320040"/>
          </a:xfrm>
          <a:prstGeom prst="rect">
            <a:avLst/>
          </a:prstGeom>
          <a:solidFill>
            <a:srgbClr val="FBE9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328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Staged Install 후 재부팅해도 적용 안됨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cmd apex list에서 active version 확인, staged session 상태: pm get-stagedsessions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APEX 관리 및 디버깅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APEX 목록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pm list packages --apex-only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apex list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상세 정보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apex info com.android.art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활성화 상태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/apex/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apex active-list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Staged session 확인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pm get-stagedsessions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APEX 설치 (staged)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install --staged com.android.media.apex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apexd 로그 확인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logcat -s apexd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APEX 롤백 (factory reset)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apex rollback &lt;session_id&gt;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에뮬레이터에서 /apex/ 디렉토리 확인: 마운트된 APEX 모듈 목록 및 버전 확인 가능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13  연습문제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APEX와 APK의 구조적 차이와 설치 메커니즘을 설명하시오.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apexd의 롤백 메커니즘을 단계별로 설명하시오.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설치 실패 시 디버깅 절차를 설명하시오.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Mainline이 보안 업데이트에 미치는 영향을 논하시오.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부록: 필수 명령어 모음 &amp; 참고 자료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필수 ADB 명령어 모음 (1)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84048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84048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프로세스 &amp; 메모리 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ps -A | grep &lt;keyword&gt;           # 프로세스 검색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meminfo &lt;package&gt;         # 메모리 상세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activity processes        # 프로세스 OOM 상태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cat /proc/&lt;pid&gt;/oom_score_adj     # OOM 점수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Activity &amp; Service 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activity activities       # Activity 스택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activity services         # 실행 중 서비스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activity providers        # Content Provider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패키지 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pm list packages -f               # 설치 앱 목록+경로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pm dump &lt;package&gt;                 # 패키지 상세 정보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pm query-activities -a &lt;action&gt;   # Intent 매칭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필수 ADB 명령어 모음 (2)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Binder &amp; IPC 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service list                      # 시스템 서비스 목록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service call &lt;svc&gt; &lt;code&gt;         # 서비스 직접 호출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&lt;service_name&gt;            # 서비스 상태 덤프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시스템 UI 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statusbar                 # 상태바 상태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notification              # 알림 목록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cmd overlay list                  # RRO 오버레이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성능 분석 ===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gfxinfo &lt;package&gt;         # 렌더링 성능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dumpsys batterystats              # 배터리 사용량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bugreport &gt; bugreport.zip               # 종합 리포트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bugreport: ANR, crash, 시스템 상태를 한 파일로 — 현업 이슈 보고 시 필수 첨부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8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디버깅 가이드: Perfetto 트레이싱 가이드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3200400"/>
          </a:xfrm>
          <a:prstGeom prst="rect">
            <a:avLst/>
          </a:prstGeom>
          <a:solidFill>
            <a:srgbClr val="F1F3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32004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8001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시스템 트레이스 수집 (10초)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shell perfetto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 - --txt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-o /data/misc/perfetto-traces/trace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&lt;&lt;EOF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buffers: { size_kb: 65536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duration_ms: 10000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data_sources: { config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"linux.ftrace"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ftrace_config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ftrace_events: "sched/sched_switch"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ftrace_events: "binder/binder_transaction"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ftrace_events: "power/cpu_frequency"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data_sources: { config { name: "linux.process_stats" }}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트레이스 파일 가져오기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adb pull /data/misc/perfetto-traces/trace trace.pb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ui.perfetto.dev 에서 열기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Perfetto UI: https://ui.perfetto.dev — 브라우저에서 .pb 파일을 드래그&amp;드롭으로 분석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현업 디버깅 체크리스트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로그 수집 — adb logcat -b all &gt; full_log.txt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관련 TAG 필터링: logcat -s ActivityManager,SystemServer,Binder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시스템 상태 덤프 — adb bugreport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ANR traces: /data/anr/traces.txt, tombstone: /data/tombstones/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재현 조건 격리 — 최소 재현 시나리오 작성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특정 API 레벨, 특정 디바이스, 특정 시퀀스에서만 발생하는지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4단계: 트레이스 분석 — Perfetto로 시스템 레벨 프로파일링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CPU, Binder, 메모리, 렌더링 병목 구간 시각적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5단계: 수정 → 검증 → 회귀 테스트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추천 참고 자료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AOSP 소스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android.googlesource.com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cs.android.com (검색)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 브랜치 참조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코드로 학습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공식 문서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developer.android.com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 / Binder 가이드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라이브러리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45720"/>
          </a:xfrm>
          <a:prstGeom prst="rect">
            <a:avLst/>
          </a:prstGeom>
          <a:solidFill>
            <a:srgbClr val="EA86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8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디버깅 도구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Perfetto: ui.perfetto.dev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Profiler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Systrace (레거시)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Inspector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커뮤니티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Building (메일링)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XDA Developers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 Gerrit Code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Framework 16 심화 교육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교육 완료!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4일간의 Android Framework 16 심화 교육을 마칩니다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2860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Android 16 아키텍처 &amp; Binder IPC 기초/실습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Binder 심화 분석 &amp; 커스텀 System Service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Framework Core &amp; Resource Overlays &amp; Jetpack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System UI 커스터마이징 &amp; APEX 모듈 업데이트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환경: Windows 11 + Android Studio + Emulator (API 36)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6963</Words>
  <Application>Microsoft Office PowerPoint</Application>
  <PresentationFormat>화면 슬라이드 쇼(16:9)</PresentationFormat>
  <Paragraphs>1297</Paragraphs>
  <Slides>102</Slides>
  <Notes>102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102</vt:i4>
      </vt:variant>
    </vt:vector>
  </HeadingPairs>
  <TitlesOfParts>
    <vt:vector size="107" baseType="lpstr"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Framework 16 심화 교육 (4일 32시간)</dc:title>
  <dc:subject>PptxGenJS Presentation</dc:subject>
  <dc:creator>Android Framework Training</dc:creator>
  <cp:lastModifiedBy>jungin kim</cp:lastModifiedBy>
  <cp:revision>2</cp:revision>
  <dcterms:created xsi:type="dcterms:W3CDTF">2026-03-21T12:07:48Z</dcterms:created>
  <dcterms:modified xsi:type="dcterms:W3CDTF">2026-03-29T20:02:45Z</dcterms:modified>
</cp:coreProperties>
</file>